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7" r:id="rId2"/>
    <p:sldId id="356" r:id="rId3"/>
    <p:sldId id="357" r:id="rId4"/>
    <p:sldId id="402" r:id="rId5"/>
    <p:sldId id="358" r:id="rId6"/>
    <p:sldId id="403" r:id="rId7"/>
    <p:sldId id="404" r:id="rId8"/>
    <p:sldId id="406" r:id="rId9"/>
    <p:sldId id="407" r:id="rId10"/>
    <p:sldId id="405" r:id="rId11"/>
    <p:sldId id="359" r:id="rId12"/>
    <p:sldId id="360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5A3C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6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960" y="10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617300-614F-475F-883E-297FBDAC493B}" type="datetimeFigureOut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57660F-FF80-4364-BBC9-35AB35C510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0922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189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2635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D9F5-8611-A9AA-AB07-62F2DA928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E09C45-85EE-E61B-4EDF-D67481B6D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0F793E3-053C-03F1-94D8-6233A9D2D1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D4EFF9-5D03-8C52-F01A-76E00EA25D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798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6824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CC195-F0B9-C592-484D-5756876D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7D8EB72-F79B-2E25-86CD-973A8FD5C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18EA4C8-308D-30DA-777E-4C5997F35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0226B4-AD51-3DD1-B679-7144E4832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78796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60EF-0040-81AC-F629-4AE3ECDD1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CFF6540-DF81-7A65-22DA-69404C8912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C155BF-75FC-90F6-9B06-3DD005293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F8F5F9D-62CF-D9CD-F652-E81BF2BD1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1241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C1ADE-0D14-34F1-EF98-C4ED807AE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A08C4B-A107-3A45-50E7-6096350E2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6E2206-BB7A-4E73-7CC5-CE50E2632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909AF8-DCD9-5757-06F4-3F1669EA8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68308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E496-E2F5-1AF0-DC25-2017125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E7E8964-0D8D-7A43-E746-BA0DE988E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D238E7-52C3-8AAD-10E6-849476A7B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FCD1ECC-23F7-DCA3-9603-23FA9EB55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85740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06D72-85C6-1C5C-5511-824BC878D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0B10C4D-C0DF-1DE8-E462-277E4B671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795EB34-3EC2-DE36-28E7-137678BB4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EBF3B0-B65C-BAC1-6EF8-5B101C90D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742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7783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ここで、突然ですが、「缶サット甲子園」について説明します。</a:t>
            </a:r>
          </a:p>
          <a:p>
            <a:r>
              <a:rPr kumimoji="1" lang="ja-JP" altLang="en-US" dirty="0"/>
              <a:t>缶サット甲子園というのは、高校生たちが、模擬人工衛星</a:t>
            </a:r>
            <a:r>
              <a:rPr kumimoji="1" lang="en-US" altLang="ja-JP" dirty="0" err="1"/>
              <a:t>CanSat</a:t>
            </a:r>
            <a:r>
              <a:rPr kumimoji="1" lang="ja-JP" altLang="en-US" dirty="0"/>
              <a:t>を作って、ロケットで打ち上げ、地上に落下してくるまでに、缶サットに課したミッションが如何に斬新か、クールかを争う競技です。</a:t>
            </a:r>
          </a:p>
          <a:p>
            <a:r>
              <a:rPr kumimoji="1" lang="ja-JP" altLang="en-US" dirty="0"/>
              <a:t>この大会に参加する高校生たちが小さい</a:t>
            </a:r>
            <a:r>
              <a:rPr kumimoji="1" lang="en-US" altLang="ja-JP" dirty="0" err="1"/>
              <a:t>Wakayama.rb</a:t>
            </a:r>
            <a:r>
              <a:rPr kumimoji="1" lang="ja-JP" altLang="en-US" dirty="0"/>
              <a:t>ボードを採用してくれているので、それも一緒に紹介したいと思います。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30D02-CB94-4A91-AF86-16FC66827DC2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3948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4334933" y="1169931"/>
            <a:ext cx="4814835" cy="4993802"/>
            <a:chOff x="4334933" y="1169931"/>
            <a:chExt cx="4814835" cy="4993802"/>
          </a:xfrm>
        </p:grpSpPr>
        <p:cxnSp>
          <p:nvCxnSpPr>
            <p:cNvPr id="17" name="Straight Connector 16"/>
            <p:cNvCxnSpPr/>
            <p:nvPr/>
          </p:nvCxnSpPr>
          <p:spPr>
            <a:xfrm flipH="1">
              <a:off x="6009259" y="1169931"/>
              <a:ext cx="3134741" cy="31347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H="1">
              <a:off x="4334933" y="1348898"/>
              <a:ext cx="4814835" cy="48148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5225595" y="1469269"/>
              <a:ext cx="3912054" cy="3912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H="1">
              <a:off x="5304588" y="1307856"/>
              <a:ext cx="3839412" cy="3839412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5707078" y="1770196"/>
              <a:ext cx="3430571" cy="343057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533400"/>
            <a:ext cx="6154713" cy="3124201"/>
          </a:xfrm>
        </p:spPr>
        <p:txBody>
          <a:bodyPr anchor="b">
            <a:normAutofit/>
          </a:bodyPr>
          <a:lstStyle>
            <a:lvl1pPr algn="l">
              <a:defRPr sz="44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3400" y="3843868"/>
            <a:ext cx="4954250" cy="191346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70001-7513-495D-A82D-45B596600A74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7568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533400"/>
            <a:ext cx="6554867" cy="3767670"/>
          </a:xfrm>
        </p:spPr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6629A-ED80-4405-9047-A28BA8D7CF23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588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1981199"/>
            <a:ext cx="6402468" cy="2319867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487333"/>
            <a:ext cx="6402467" cy="1532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204FE-B1F2-46F9-8D71-6DB416073EC7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0114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13"/>
          </p:nvPr>
        </p:nvSpPr>
        <p:spPr>
          <a:xfrm>
            <a:off x="533400" y="533400"/>
            <a:ext cx="3949967" cy="3767667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533400"/>
            <a:ext cx="3948238" cy="37592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AA92B-A36D-42A4-B072-51D8C6EBD4C0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1318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1" y="533400"/>
            <a:ext cx="3716866" cy="609600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399" y="1143000"/>
            <a:ext cx="3945467" cy="3158067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5016" y="566738"/>
            <a:ext cx="376405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1143000"/>
            <a:ext cx="3956705" cy="3149600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64363-AF5F-47E8-907D-EB9E5487FC23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561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EE5FB-CE28-404F-AE7E-CE139579E101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299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C589-A6A9-48E2-8F24-BE60FFD30E16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6552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8667" y="533400"/>
            <a:ext cx="3200400" cy="1524000"/>
          </a:xfrm>
        </p:spPr>
        <p:txBody>
          <a:bodyPr anchor="b">
            <a:normAutofit/>
          </a:bodyPr>
          <a:lstStyle>
            <a:lvl1pPr algn="l">
              <a:defRPr sz="2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399" y="533400"/>
            <a:ext cx="4438755" cy="54864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18667" y="2209802"/>
            <a:ext cx="32004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32043-CA65-45CF-91A5-19D31A66B892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986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0" y="1447800"/>
            <a:ext cx="3563258" cy="11430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762000" y="914400"/>
            <a:ext cx="3280974" cy="48006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6027" y="2743200"/>
            <a:ext cx="3564223" cy="2082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17F8C-E835-4FDA-B51D-489A9808742C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33400" y="6172200"/>
            <a:ext cx="5811724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3906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33400" y="533400"/>
            <a:ext cx="8077200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762002" y="3843867"/>
            <a:ext cx="7281332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865BE-6B6E-42FF-9C4F-9C1ADAC4DF26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3481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8077200" cy="2895600"/>
          </a:xfrm>
        </p:spPr>
        <p:txBody>
          <a:bodyPr anchor="ctr">
            <a:normAutofit/>
          </a:bodyPr>
          <a:lstStyle>
            <a:lvl1pPr algn="l">
              <a:defRPr sz="28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114800"/>
            <a:ext cx="6383552" cy="19050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6DC7A-3F10-4B7D-93A8-452FAC4D686D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73354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3" y="533400"/>
            <a:ext cx="6859787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66800" y="3429000"/>
            <a:ext cx="6402467" cy="4826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301070"/>
            <a:ext cx="6382361" cy="171873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ABD12-64D3-4EBE-8D2C-43D693D99709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2190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3429000"/>
            <a:ext cx="6382361" cy="1697400"/>
          </a:xfrm>
        </p:spPr>
        <p:txBody>
          <a:bodyPr anchor="b">
            <a:normAutofit/>
          </a:bodyPr>
          <a:lstStyle>
            <a:lvl1pPr algn="l">
              <a:defRPr sz="28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132980"/>
            <a:ext cx="6383552" cy="886819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A2179-E127-416E-949F-2936325D6D19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059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4" y="533400"/>
            <a:ext cx="6859786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886200"/>
            <a:ext cx="638236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953000"/>
            <a:ext cx="63823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BC515-E5D5-4A35-8EAE-0B5E4BDFF349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08460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7525658" cy="28956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2800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928534"/>
            <a:ext cx="6382361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766735"/>
            <a:ext cx="6382360" cy="125306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7E2C-79E6-47C1-B6A5-3E7144F9AD99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9542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1"/>
            <a:ext cx="6554867" cy="376767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7EEC7-AAC5-45B2-AA53-2E95B7D875DF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7770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66406" y="533400"/>
            <a:ext cx="2044194" cy="4419600"/>
          </a:xfrm>
        </p:spPr>
        <p:txBody>
          <a:bodyPr vert="eaVert"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0"/>
            <a:ext cx="5850012" cy="54864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9FCBA-7A3E-4412-A358-A284411A6FE8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762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670675" y="3894667"/>
            <a:ext cx="2470456" cy="2658533"/>
            <a:chOff x="6687077" y="3259666"/>
            <a:chExt cx="2981857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8756120" y="3259666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6687077" y="3486677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7772400" y="3581400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7923214" y="3433394"/>
              <a:ext cx="1739738" cy="17397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8398935" y="3985317"/>
              <a:ext cx="1264017" cy="126401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33401"/>
            <a:ext cx="6554867" cy="37676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0245" y="6172203"/>
            <a:ext cx="1200463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1AC51BD-3909-4258-A020-CE99C0BEBAFE}" type="datetime1">
              <a:rPr kumimoji="1" lang="ja-JP" altLang="en-US" smtClean="0"/>
              <a:t>2026/7/2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0" y="6172200"/>
            <a:ext cx="5811724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9268" y="0"/>
            <a:ext cx="856907" cy="4715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8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A100B93A-21FB-4666-B0C5-EFD3C8C641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86308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32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908CB4-817C-DD39-D0A1-77AC343BA5EA}"/>
              </a:ext>
            </a:extLst>
          </p:cNvPr>
          <p:cNvSpPr txBox="1"/>
          <p:nvPr/>
        </p:nvSpPr>
        <p:spPr>
          <a:xfrm>
            <a:off x="341789" y="1454034"/>
            <a:ext cx="8460419" cy="2308324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marR="0" algn="ctr"/>
            <a:r>
              <a:rPr lang="ja-JP" altLang="en-US" sz="4800" b="0" i="0" strike="noStrike" dirty="0">
                <a:solidFill>
                  <a:srgbClr val="C00000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ペットボトル</a:t>
            </a:r>
          </a:p>
          <a:p>
            <a:pPr marR="0" algn="ctr"/>
            <a:r>
              <a:rPr lang="ja-JP" altLang="en-US" sz="4800" b="0" i="0" strike="noStrike" dirty="0">
                <a:solidFill>
                  <a:srgbClr val="C00000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缶サット</a:t>
            </a:r>
            <a:r>
              <a:rPr lang="ja-JP" altLang="en-US" sz="4800" dirty="0">
                <a:solidFill>
                  <a:srgbClr val="C00000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を作ろう</a:t>
            </a:r>
            <a:endParaRPr lang="en-US" altLang="ja-JP" sz="4800" b="0" i="0" strike="noStrike" dirty="0">
              <a:solidFill>
                <a:srgbClr val="C00000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marR="0" algn="ctr"/>
            <a:r>
              <a:rPr lang="en-US" altLang="ja-JP" sz="4800" b="0" i="0" strike="noStrike">
                <a:solidFill>
                  <a:srgbClr val="7030A0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2026</a:t>
            </a:r>
            <a:endParaRPr lang="ja-JP" altLang="en-US" b="0" i="0" strike="noStrike" dirty="0">
              <a:solidFill>
                <a:srgbClr val="7030A0"/>
              </a:solidFill>
              <a:latin typeface="Mangal" panose="02040503050203030202" pitchFamily="18" charset="0"/>
              <a:ea typeface="ＭＳ Ｐゴシック" panose="020B0600070205080204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0281D72-6BEB-E199-BD24-E6D0B38913FC}"/>
              </a:ext>
            </a:extLst>
          </p:cNvPr>
          <p:cNvSpPr txBox="1"/>
          <p:nvPr/>
        </p:nvSpPr>
        <p:spPr>
          <a:xfrm>
            <a:off x="2070262" y="4837483"/>
            <a:ext cx="5003474" cy="830997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marR="0" algn="ctr"/>
            <a:r>
              <a:rPr lang="ja-JP" altLang="en-US" sz="2400" dirty="0">
                <a:solidFill>
                  <a:srgbClr val="C0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㈱</a:t>
            </a:r>
            <a:r>
              <a:rPr lang="ja-JP" altLang="en-US" sz="2400" b="0" i="0" u="none" strike="noStrike" baseline="0" dirty="0">
                <a:solidFill>
                  <a:srgbClr val="C0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ビジュアル・テクノロジー研究所</a:t>
            </a:r>
          </a:p>
          <a:p>
            <a:pPr marR="0" algn="ctr"/>
            <a:r>
              <a:rPr lang="ja-JP" altLang="en-US" sz="2400" dirty="0">
                <a:solidFill>
                  <a:srgbClr val="C0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山本　三七男</a:t>
            </a:r>
            <a:endParaRPr lang="ja-JP" altLang="en-US" sz="2400" b="0" i="0" u="none" strike="noStrike" baseline="0" dirty="0">
              <a:solidFill>
                <a:srgbClr val="C00000"/>
              </a:solidFill>
              <a:latin typeface="Mangal" panose="02040503050203030202" pitchFamily="18" charset="0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579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2D6AE6D-D4E6-678C-379F-90E30EDB7A6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1322" y="1763362"/>
            <a:ext cx="5627545" cy="333127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1147B73-0C2A-922F-3138-5B21D094FB9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851" y="1356908"/>
            <a:ext cx="2831406" cy="480221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ECC6058-D9D0-C478-268D-4AF289E311D3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C56F4AC-3314-23AD-CDE1-4FF523F17C76}"/>
              </a:ext>
            </a:extLst>
          </p:cNvPr>
          <p:cNvSpPr txBox="1"/>
          <p:nvPr/>
        </p:nvSpPr>
        <p:spPr>
          <a:xfrm>
            <a:off x="3627668" y="5642009"/>
            <a:ext cx="4644154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洗って、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14cm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辺りでカットします。</a:t>
            </a: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3403A2E-1FFB-8E02-0D39-756F25141A0D}"/>
              </a:ext>
            </a:extLst>
          </p:cNvPr>
          <p:cNvCxnSpPr>
            <a:cxnSpLocks/>
          </p:cNvCxnSpPr>
          <p:nvPr/>
        </p:nvCxnSpPr>
        <p:spPr>
          <a:xfrm flipV="1">
            <a:off x="6940731" y="4659086"/>
            <a:ext cx="1428206" cy="982923"/>
          </a:xfrm>
          <a:prstGeom prst="straightConnector1">
            <a:avLst/>
          </a:prstGeom>
          <a:ln w="38100">
            <a:solidFill>
              <a:srgbClr val="9E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AD0DFE9-0F84-9981-E094-438DEFF3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4990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ECC6058-D9D0-C478-268D-4AF289E311D3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E9BC02F-0751-5EFF-7ADD-74CF6785CE92}"/>
              </a:ext>
            </a:extLst>
          </p:cNvPr>
          <p:cNvSpPr txBox="1"/>
          <p:nvPr/>
        </p:nvSpPr>
        <p:spPr>
          <a:xfrm>
            <a:off x="4640641" y="1058969"/>
            <a:ext cx="3079485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M3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の穴を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4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カ所あけます。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856479-6E34-DE6B-923E-435354CEEC0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3907" y="1576251"/>
            <a:ext cx="3079485" cy="514241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E08CF27-FF72-2782-9C0C-7F8B19D9731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7020" y="1576251"/>
            <a:ext cx="2846728" cy="520337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8359A06-219C-850E-C209-F18D8E3BE28D}"/>
              </a:ext>
            </a:extLst>
          </p:cNvPr>
          <p:cNvSpPr txBox="1"/>
          <p:nvPr/>
        </p:nvSpPr>
        <p:spPr>
          <a:xfrm>
            <a:off x="1573339" y="1058969"/>
            <a:ext cx="1620619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仮止めして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707333A-B959-0131-0662-F126904D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316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903A84-26B8-0F86-3B2C-37339E375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B6ABF2-9478-2DB9-44C4-C55E7C95C2DD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BC73B-3969-B513-38DA-5EF029748D4B}"/>
              </a:ext>
            </a:extLst>
          </p:cNvPr>
          <p:cNvSpPr txBox="1"/>
          <p:nvPr/>
        </p:nvSpPr>
        <p:spPr>
          <a:xfrm>
            <a:off x="5422873" y="1039178"/>
            <a:ext cx="2101137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M3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のドリルに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D82654A-5111-7882-B940-6BBECEC9892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2631" y="1576251"/>
            <a:ext cx="2846728" cy="520337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84E3C78-EBA1-E47D-8754-1A0C1E48D111}"/>
              </a:ext>
            </a:extLst>
          </p:cNvPr>
          <p:cNvSpPr txBox="1"/>
          <p:nvPr/>
        </p:nvSpPr>
        <p:spPr>
          <a:xfrm>
            <a:off x="1689118" y="1039178"/>
            <a:ext cx="2032010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細いドリルから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2331F26-7956-5B7F-E743-5CD982D7BCE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1846" y="1576251"/>
            <a:ext cx="2918322" cy="5203372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DEF1011-3647-BDD6-08F3-8B1314D7E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3831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ECC6058-D9D0-C478-268D-4AF289E311D3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C56F4AC-3314-23AD-CDE1-4FF523F17C76}"/>
              </a:ext>
            </a:extLst>
          </p:cNvPr>
          <p:cNvSpPr txBox="1"/>
          <p:nvPr/>
        </p:nvSpPr>
        <p:spPr>
          <a:xfrm>
            <a:off x="2723169" y="1323770"/>
            <a:ext cx="3843094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M3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のネジは、こんな感じです。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EF70541-2AB3-AEE1-FD62-365C3D26FF8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8072" y="1809781"/>
            <a:ext cx="4718071" cy="356017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A7F084F-977C-98DA-4253-45FF76D1959C}"/>
              </a:ext>
            </a:extLst>
          </p:cNvPr>
          <p:cNvSpPr txBox="1"/>
          <p:nvPr/>
        </p:nvSpPr>
        <p:spPr>
          <a:xfrm>
            <a:off x="2994582" y="5541753"/>
            <a:ext cx="3066584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本番はナット付けてね。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EF542BB-D301-83D2-AF97-EA6CDF37B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0584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2C7761-2B70-A6A4-7577-AFEDEFA96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DCF6D75-FC0E-4247-9FFF-670D49B9E7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253" y="1489165"/>
            <a:ext cx="2777166" cy="522078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A51BD5E-1FF7-5A01-8E49-12E759D8E7A5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6D61BA2-6283-56FF-5797-6CFA0099B920}"/>
              </a:ext>
            </a:extLst>
          </p:cNvPr>
          <p:cNvSpPr txBox="1"/>
          <p:nvPr/>
        </p:nvSpPr>
        <p:spPr>
          <a:xfrm>
            <a:off x="606500" y="1023138"/>
            <a:ext cx="3717196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基板を固定、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IMU PRO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も固定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F9B3C5D-1FE7-BE2F-10A5-2F175670712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1973" y="2159724"/>
            <a:ext cx="3268321" cy="455022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FEAD4C-6D13-A8BC-FD19-9026D5DFCDA3}"/>
              </a:ext>
            </a:extLst>
          </p:cNvPr>
          <p:cNvSpPr txBox="1"/>
          <p:nvPr/>
        </p:nvSpPr>
        <p:spPr>
          <a:xfrm>
            <a:off x="5748060" y="1628385"/>
            <a:ext cx="1796145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カメラも固定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11153FF-D2DC-9295-292F-B9C8DCC37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067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7ED9B1-D803-A0F5-E97E-7318DB0A4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CA5DD04-51C4-F1AB-52F5-008342476C62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A274A3-3AB7-18A8-7CAC-5E512A8520A8}"/>
              </a:ext>
            </a:extLst>
          </p:cNvPr>
          <p:cNvSpPr txBox="1"/>
          <p:nvPr/>
        </p:nvSpPr>
        <p:spPr>
          <a:xfrm>
            <a:off x="281454" y="2307771"/>
            <a:ext cx="2865936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カメラは地上に向けて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85EAE9-9155-D52A-1A76-273D80C8BEEE}"/>
              </a:ext>
            </a:extLst>
          </p:cNvPr>
          <p:cNvSpPr txBox="1"/>
          <p:nvPr/>
        </p:nvSpPr>
        <p:spPr>
          <a:xfrm>
            <a:off x="3696470" y="1404938"/>
            <a:ext cx="1903142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ざっくり固定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A767B47-A917-B09B-B429-E204F191F0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4843" y="2793995"/>
            <a:ext cx="2699159" cy="254290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D438B8E-FC71-EC96-835F-AF664F7C176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20546" y="1864355"/>
            <a:ext cx="2502905" cy="4402183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D288976-5923-E9E2-EA61-D04C7DC8D70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0535" y="1698410"/>
            <a:ext cx="2158077" cy="461167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57C446-B8E8-3B9A-D90D-4D9778889EA2}"/>
              </a:ext>
            </a:extLst>
          </p:cNvPr>
          <p:cNvSpPr txBox="1"/>
          <p:nvPr/>
        </p:nvSpPr>
        <p:spPr>
          <a:xfrm>
            <a:off x="6915182" y="1254758"/>
            <a:ext cx="1028785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入った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7F74D4E-01EA-1C09-1B5D-A96327D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1613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A1F688-8EDF-2F4B-595D-DEC00E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3EA5655-9748-7DB0-5DD1-48088F826EB1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B60FC3-8DC2-513D-A7C2-7EF3C1F7C740}"/>
              </a:ext>
            </a:extLst>
          </p:cNvPr>
          <p:cNvSpPr txBox="1"/>
          <p:nvPr/>
        </p:nvSpPr>
        <p:spPr>
          <a:xfrm>
            <a:off x="619039" y="1498357"/>
            <a:ext cx="3523721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パラシュートの固定穴空け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465252A-258C-0B1B-79A9-830F73DE675D}"/>
              </a:ext>
            </a:extLst>
          </p:cNvPr>
          <p:cNvSpPr txBox="1"/>
          <p:nvPr/>
        </p:nvSpPr>
        <p:spPr>
          <a:xfrm>
            <a:off x="4475474" y="1498357"/>
            <a:ext cx="4049487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タミヤのプッシュリベットで固定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C74BB8B-2B05-777A-A133-472C5D141C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398" y="1991886"/>
            <a:ext cx="3566396" cy="455022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10C70E9-B856-1FC9-337B-75E44ED242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1999" y="1991887"/>
            <a:ext cx="3907990" cy="4548674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7C7A296-158B-01B2-37DC-75020FAA8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082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6056313-9F98-DDA3-A7A7-9C232105C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6C7EC5F-61DC-B879-4758-5777E126902D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D834FB-0647-FA36-A945-4FB23E61ECAD}"/>
              </a:ext>
            </a:extLst>
          </p:cNvPr>
          <p:cNvSpPr txBox="1"/>
          <p:nvPr/>
        </p:nvSpPr>
        <p:spPr>
          <a:xfrm>
            <a:off x="781250" y="1006732"/>
            <a:ext cx="2875029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電池も付けて動作確認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384291-3612-0DDA-3EE1-DB653F3B6ACA}"/>
              </a:ext>
            </a:extLst>
          </p:cNvPr>
          <p:cNvSpPr txBox="1"/>
          <p:nvPr/>
        </p:nvSpPr>
        <p:spPr>
          <a:xfrm>
            <a:off x="4639748" y="1007214"/>
            <a:ext cx="2875030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パラシュートも付けた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4C0F942B-D8E7-862B-C0F4-059902B5C69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3257" y="1402562"/>
            <a:ext cx="2369845" cy="5359643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F494C1A-66EB-5F20-75C1-ED8668ABB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95313" y="1511359"/>
            <a:ext cx="3912070" cy="5244915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F090C2F-3AE9-6A7A-F395-4968CFDA0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2895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F225D3-3B4F-C7B1-7EA3-55361AF3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9B9B54C-473F-908D-94CB-78A2CF644FDD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041CB09-E0B8-FD51-D392-098766732DC7}"/>
              </a:ext>
            </a:extLst>
          </p:cNvPr>
          <p:cNvSpPr txBox="1"/>
          <p:nvPr/>
        </p:nvSpPr>
        <p:spPr>
          <a:xfrm>
            <a:off x="3672679" y="2682723"/>
            <a:ext cx="4890940" cy="2246769"/>
          </a:xfrm>
          <a:prstGeom prst="rect">
            <a:avLst/>
          </a:prstGeom>
          <a:solidFill>
            <a:srgbClr val="FFFFFF">
              <a:alpha val="50000"/>
            </a:srgbClr>
          </a:solidFill>
          <a:ln w="38100" cmpd="thickThin">
            <a:solidFill>
              <a:srgbClr val="9E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このような、</a:t>
            </a:r>
          </a:p>
          <a:p>
            <a:pPr algn="ctr"/>
            <a:r>
              <a:rPr kumimoji="1" lang="ja-JP" altLang="en-US" sz="28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輪ゴムで止めて、</a:t>
            </a:r>
          </a:p>
          <a:p>
            <a:pPr algn="ctr"/>
            <a:r>
              <a:rPr kumimoji="1" lang="ja-JP" altLang="en-US" sz="28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中がスカスカの</a:t>
            </a:r>
          </a:p>
          <a:p>
            <a:pPr algn="ctr"/>
            <a:r>
              <a:rPr kumimoji="1" lang="ja-JP" altLang="en-US" sz="28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缶サットは、</a:t>
            </a:r>
          </a:p>
          <a:p>
            <a:pPr algn="ctr"/>
            <a:r>
              <a:rPr kumimoji="1" lang="ja-JP" altLang="en-US" sz="28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決して、作らないように！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AB82AC-F4DC-CCA6-E3CE-F100FDB8C989}"/>
              </a:ext>
            </a:extLst>
          </p:cNvPr>
          <p:cNvSpPr txBox="1"/>
          <p:nvPr/>
        </p:nvSpPr>
        <p:spPr>
          <a:xfrm>
            <a:off x="3585594" y="1289352"/>
            <a:ext cx="3433515" cy="40011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246.5g 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なので、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3.5g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 軽い。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B3DC92-BD38-2C55-546A-31573F83F66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4586" y="1018777"/>
            <a:ext cx="2807254" cy="5748527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E0619B8-A921-ABCE-8BEB-AC8E06ACE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832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ECC6058-D9D0-C478-268D-4AF289E311D3}"/>
              </a:ext>
            </a:extLst>
          </p:cNvPr>
          <p:cNvSpPr txBox="1"/>
          <p:nvPr/>
        </p:nvSpPr>
        <p:spPr>
          <a:xfrm>
            <a:off x="1714423" y="317440"/>
            <a:ext cx="5715153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ペットボトル缶サット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C56F4AC-3314-23AD-CDE1-4FF523F17C76}"/>
              </a:ext>
            </a:extLst>
          </p:cNvPr>
          <p:cNvSpPr txBox="1"/>
          <p:nvPr/>
        </p:nvSpPr>
        <p:spPr>
          <a:xfrm>
            <a:off x="3702852" y="1303833"/>
            <a:ext cx="4542460" cy="1015663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上昇、解放、落下中に、基板などが動かないように、隙間にはスポンジなどを詰めて、余分な空間を作らない。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533EFA-AD3C-2006-F5D5-57FAC66C7A01}"/>
              </a:ext>
            </a:extLst>
          </p:cNvPr>
          <p:cNvSpPr txBox="1"/>
          <p:nvPr/>
        </p:nvSpPr>
        <p:spPr>
          <a:xfrm>
            <a:off x="3702852" y="2590228"/>
            <a:ext cx="4542460" cy="1015663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2000" dirty="0" err="1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OpenLog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とカメラの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SD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カードが抜けたり、接点が外れたりしないように、テープでしっかり止める。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E07B61-FB06-E917-ED10-D9098160D40E}"/>
              </a:ext>
            </a:extLst>
          </p:cNvPr>
          <p:cNvSpPr txBox="1"/>
          <p:nvPr/>
        </p:nvSpPr>
        <p:spPr>
          <a:xfrm>
            <a:off x="3702852" y="3909727"/>
            <a:ext cx="4542460" cy="707886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配線も抜けたりしないように、テープでしっかり止める。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BACF15B-AEE5-9D6A-BA50-1444E8CEDE5B}"/>
              </a:ext>
            </a:extLst>
          </p:cNvPr>
          <p:cNvSpPr txBox="1"/>
          <p:nvPr/>
        </p:nvSpPr>
        <p:spPr>
          <a:xfrm>
            <a:off x="3702852" y="4921449"/>
            <a:ext cx="4542460" cy="1015663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落下の衝撃を弱めるために、缶サットの底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(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外側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)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に緩衝材を取り付けても良い。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(</a:t>
            </a:r>
            <a:r>
              <a:rPr kumimoji="1" lang="ja-JP" altLang="en-US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カメラを避けてね</a:t>
            </a:r>
            <a:r>
              <a:rPr kumimoji="1" lang="en-US" altLang="ja-JP" sz="20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)</a:t>
            </a:r>
            <a:endParaRPr kumimoji="1" lang="ja-JP" altLang="en-US" sz="2000" dirty="0">
              <a:solidFill>
                <a:srgbClr val="C00000"/>
              </a:solidFill>
              <a:latin typeface="源ノ角ゴシック JP Bold" panose="020B0800000000000000" pitchFamily="34" charset="-128"/>
              <a:ea typeface="源ノ角ゴシック JP Bold" panose="020B0800000000000000" pitchFamily="34" charset="-128"/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5E96A994-EB21-395A-1F8A-1D58BDB8F67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4586" y="1018777"/>
            <a:ext cx="2807254" cy="5748527"/>
          </a:xfrm>
          <a:prstGeom prst="rect">
            <a:avLst/>
          </a:prstGeo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239DF9-6D39-81D0-46A3-D0854AC2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00B93A-21FB-4666-B0C5-EFD3C8C641C6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5254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BACF15B-AEE5-9D6A-BA50-1444E8CEDE5B}"/>
              </a:ext>
            </a:extLst>
          </p:cNvPr>
          <p:cNvSpPr txBox="1"/>
          <p:nvPr/>
        </p:nvSpPr>
        <p:spPr>
          <a:xfrm>
            <a:off x="1722268" y="2844225"/>
            <a:ext cx="6454065" cy="584775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rgbClr val="C00000"/>
                </a:solidFill>
                <a:latin typeface="源ノ角ゴシック JP Bold" panose="020B0800000000000000" pitchFamily="34" charset="-128"/>
                <a:ea typeface="源ノ角ゴシック JP Bold" panose="020B0800000000000000" pitchFamily="34" charset="-128"/>
              </a:rPr>
              <a:t>本番に向けて、頑張ってください。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596958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4"/>
    </mc:Choice>
    <mc:Fallback xmlns="">
      <p:transition spd="slow" advTm="2324"/>
    </mc:Fallback>
  </mc:AlternateContent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3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2700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3559</TotalTime>
  <Words>1311</Words>
  <Application>Microsoft Office PowerPoint</Application>
  <PresentationFormat>画面に合わせる (4:3)</PresentationFormat>
  <Paragraphs>96</Paragraphs>
  <Slides>12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0" baseType="lpstr">
      <vt:lpstr>HGP創英角ﾎﾟｯﾌﾟ体</vt:lpstr>
      <vt:lpstr>HGS創英角ﾎﾟｯﾌﾟ体</vt:lpstr>
      <vt:lpstr>源ノ角ゴシック JP Bold</vt:lpstr>
      <vt:lpstr>游ゴシック</vt:lpstr>
      <vt:lpstr>Century Gothic</vt:lpstr>
      <vt:lpstr>Mangal</vt:lpstr>
      <vt:lpstr>Wingdings 3</vt:lpstr>
      <vt:lpstr>スライス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Minao Yamamoto</dc:creator>
  <cp:lastModifiedBy>三七男 山本</cp:lastModifiedBy>
  <cp:revision>329</cp:revision>
  <dcterms:created xsi:type="dcterms:W3CDTF">2022-08-06T15:04:50Z</dcterms:created>
  <dcterms:modified xsi:type="dcterms:W3CDTF">2026-07-02T11:14:45Z</dcterms:modified>
</cp:coreProperties>
</file>